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914400" y="1097905"/>
            <a:ext cx="7315200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</a:rPr>
              <a:t>Proyecto Integrador: Aplicación de Métodos de Machine Learning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914400" y="2796360"/>
            <a:ext cx="7315200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F4C81"/>
                </a:solidFill>
              </a:rPr>
              <a:t>Predicción de Demanda y Segmentación de Clientes/Productos</a:t>
            </a:r>
            <a:endParaRPr lang="en-US" sz="1704" dirty="0"/>
          </a:p>
        </p:txBody>
      </p:sp>
      <p:sp>
        <p:nvSpPr>
          <p:cNvPr id="5" name="Text 2"/>
          <p:cNvSpPr/>
          <p:nvPr/>
        </p:nvSpPr>
        <p:spPr>
          <a:xfrm>
            <a:off x="914400" y="3566099"/>
            <a:ext cx="73152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Curso: Machine Learning e Inferencia Bayesiana</a:t>
            </a:r>
            <a:endParaRPr lang="en-US" sz="1269" dirty="0"/>
          </a:p>
        </p:txBody>
      </p:sp>
      <p:sp>
        <p:nvSpPr>
          <p:cNvPr id="6" name="Text 3"/>
          <p:cNvSpPr/>
          <p:nvPr/>
        </p:nvSpPr>
        <p:spPr>
          <a:xfrm>
            <a:off x="914400" y="4014369"/>
            <a:ext cx="73152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FFFFFF"/>
                </a:solidFill>
              </a:rPr>
              <a:t>Presentador: Roberto Alejandro Chagra Martinez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186113" y="0"/>
            <a:ext cx="14288" cy="51435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5" name="Text 2"/>
          <p:cNvSpPr/>
          <p:nvPr/>
        </p:nvSpPr>
        <p:spPr>
          <a:xfrm>
            <a:off x="428625" y="2220869"/>
            <a:ext cx="2771775" cy="5486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Objetivo General del Proyecto</a:t>
            </a:r>
            <a:endParaRPr lang="en-US" sz="1602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9025" y="1251942"/>
            <a:ext cx="257175" cy="2571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029075" y="1203722"/>
            <a:ext cx="4686300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F4C81"/>
                </a:solidFill>
              </a:rPr>
              <a:t>Meta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4029075" y="1505545"/>
            <a:ext cx="4476424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Aplicar conocimientos de Machine Learning e Inferencia Bayesiana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4029075" y="1719858"/>
            <a:ext cx="4192823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para analizar datos reales y construir modelos predictivos o de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4029075" y="1934170"/>
            <a:ext cx="99900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agrupamiento.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43313" y="2473523"/>
            <a:ext cx="257175" cy="257175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057650" y="2425303"/>
            <a:ext cx="42918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F4C81"/>
                </a:solidFill>
              </a:rPr>
              <a:t>Alcance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4057650" y="2727127"/>
            <a:ext cx="4291831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Demostrar dominio en técnicas supervisadas y no supervisadas.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29025" y="3266480"/>
            <a:ext cx="321469" cy="25717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057650" y="3218259"/>
            <a:ext cx="46577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0F4C81"/>
                </a:solidFill>
              </a:rPr>
              <a:t>Proceso Completo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4057650" y="3520083"/>
            <a:ext cx="436642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Desde la obtención y limpieza de datos hasta la interpretación de</a:t>
            </a:r>
            <a:endParaRPr lang="en-US" sz="1050" dirty="0"/>
          </a:p>
        </p:txBody>
      </p:sp>
      <p:sp>
        <p:nvSpPr>
          <p:cNvPr id="17" name="Text 11"/>
          <p:cNvSpPr/>
          <p:nvPr/>
        </p:nvSpPr>
        <p:spPr>
          <a:xfrm>
            <a:off x="4057650" y="3734395"/>
            <a:ext cx="2478602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resultados y justificación del modelo.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984052"/>
            <a:ext cx="4629150" cy="7179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Descripción y Transformación del Dataset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002036"/>
            <a:ext cx="150019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85800" y="1987748"/>
            <a:ext cx="4236132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Fuente: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Datos Históricos de Pedidos y Facturación (2019-2025).</a:t>
            </a:r>
            <a:endParaRPr lang="en-US" sz="987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373511"/>
            <a:ext cx="171450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07231" y="2359223"/>
            <a:ext cx="4350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Problema Inicial: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Estructura de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"formato ancho"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(columnas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mensuales), no óptima para series de tiempo.</a:t>
            </a:r>
            <a:endParaRPr lang="en-US" sz="987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973586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07231" y="2959298"/>
            <a:ext cx="4350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Transformación Clave (Melting):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Reestructuración a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"formato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largo"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(transaccional).</a:t>
            </a:r>
            <a:endParaRPr lang="en-US" sz="987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625" y="3573661"/>
            <a:ext cx="171450" cy="171450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707231" y="3559373"/>
            <a:ext cx="43505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Columnas Resultantes: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`Fecha`, `Producto_Descripcion`,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`Cliente_Descripcion`, y la variable objetivo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`Pedido_Piezas`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.</a:t>
            </a:r>
            <a:endParaRPr lang="en-US" sz="987" dirty="0"/>
          </a:p>
        </p:txBody>
      </p:sp>
      <p:sp>
        <p:nvSpPr>
          <p:cNvPr id="12" name="Shape 5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3" name="Shape 6"/>
          <p:cNvSpPr/>
          <p:nvPr/>
        </p:nvSpPr>
        <p:spPr>
          <a:xfrm>
            <a:off x="5486400" y="0"/>
            <a:ext cx="14288" cy="51435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9275" y="1307306"/>
            <a:ext cx="3371850" cy="252888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01168" y="667048"/>
            <a:ext cx="4741636" cy="4054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201168" y="1051024"/>
            <a:ext cx="4741636" cy="21431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5" name="Text 2"/>
          <p:cNvSpPr/>
          <p:nvPr/>
        </p:nvSpPr>
        <p:spPr>
          <a:xfrm>
            <a:off x="2201168" y="667048"/>
            <a:ext cx="4741636" cy="40540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Estrategia de Filtrado: Principio de Pareto</a:t>
            </a:r>
            <a:endParaRPr lang="en-US" sz="1602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4519" y="1504652"/>
            <a:ext cx="300038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21569" y="1954709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94560"/>
                </a:solidFill>
              </a:rPr>
              <a:t>Top 10 Productos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121569" y="2224385"/>
            <a:ext cx="178593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Con mayor volumen de actividad.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556" y="1868091"/>
            <a:ext cx="214313" cy="342900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4869" y="1504652"/>
            <a:ext cx="300038" cy="34290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3921919" y="1954709"/>
            <a:ext cx="1785938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94560"/>
                </a:solidFill>
              </a:rPr>
              <a:t>Top 5 Clientes</a:t>
            </a:r>
            <a:endParaRPr lang="en-US" sz="1193" dirty="0"/>
          </a:p>
        </p:txBody>
      </p:sp>
      <p:sp>
        <p:nvSpPr>
          <p:cNvPr id="12" name="Text 6"/>
          <p:cNvSpPr/>
          <p:nvPr/>
        </p:nvSpPr>
        <p:spPr>
          <a:xfrm>
            <a:off x="3921919" y="2224385"/>
            <a:ext cx="1785938" cy="3500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Con mayor volumen de actividad.</a:t>
            </a:r>
            <a:endParaRPr lang="en-US" sz="942" dirty="0"/>
          </a:p>
        </p:txBody>
      </p:sp>
      <p:sp>
        <p:nvSpPr>
          <p:cNvPr id="13" name="Shape 7"/>
          <p:cNvSpPr/>
          <p:nvPr/>
        </p:nvSpPr>
        <p:spPr>
          <a:xfrm>
            <a:off x="6107906" y="1441252"/>
            <a:ext cx="2071688" cy="1196578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14" name="Text 8"/>
          <p:cNvSpPr/>
          <p:nvPr/>
        </p:nvSpPr>
        <p:spPr>
          <a:xfrm>
            <a:off x="6250781" y="1584127"/>
            <a:ext cx="1785938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808" b="1" dirty="0">
                <a:solidFill>
                  <a:srgbClr val="FFFFFF"/>
                </a:solidFill>
              </a:rPr>
              <a:t>50</a:t>
            </a:r>
            <a:endParaRPr lang="en-US" sz="1808" dirty="0"/>
          </a:p>
        </p:txBody>
      </p:sp>
      <p:sp>
        <p:nvSpPr>
          <p:cNvPr id="15" name="Text 9"/>
          <p:cNvSpPr/>
          <p:nvPr/>
        </p:nvSpPr>
        <p:spPr>
          <a:xfrm>
            <a:off x="6250781" y="1969889"/>
            <a:ext cx="1785938" cy="5250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FFFFFF"/>
                </a:solidFill>
              </a:rPr>
              <a:t>Combinaciones únicas (Producto x Cliente) para el modelado.</a:t>
            </a:r>
            <a:endParaRPr lang="en-US" sz="942" dirty="0"/>
          </a:p>
        </p:txBody>
      </p:sp>
      <p:sp>
        <p:nvSpPr>
          <p:cNvPr id="16" name="Shape 10"/>
          <p:cNvSpPr/>
          <p:nvPr/>
        </p:nvSpPr>
        <p:spPr>
          <a:xfrm>
            <a:off x="1025128" y="3088779"/>
            <a:ext cx="7093744" cy="1376958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7" name="Shape 11"/>
          <p:cNvSpPr/>
          <p:nvPr/>
        </p:nvSpPr>
        <p:spPr>
          <a:xfrm>
            <a:off x="1025128" y="3088779"/>
            <a:ext cx="35719" cy="1376958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18" name="Text 12"/>
          <p:cNvSpPr/>
          <p:nvPr/>
        </p:nvSpPr>
        <p:spPr>
          <a:xfrm>
            <a:off x="1257300" y="3303091"/>
            <a:ext cx="6629400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Justificación Estratégica</a:t>
            </a:r>
            <a:endParaRPr lang="en-US" sz="1193" dirty="0"/>
          </a:p>
        </p:txBody>
      </p:sp>
      <p:sp>
        <p:nvSpPr>
          <p:cNvPr id="19" name="Text 13"/>
          <p:cNvSpPr/>
          <p:nvPr/>
        </p:nvSpPr>
        <p:spPr>
          <a:xfrm>
            <a:off x="1257300" y="3679924"/>
            <a:ext cx="6629400" cy="428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Enfocar los recursos computacionales en los artículos de </a:t>
            </a:r>
            <a:pPr algn="ctr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E94560"/>
                </a:solidFill>
              </a:rPr>
              <a:t>mayor impacto comercial</a:t>
            </a:r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, aplicando el </a:t>
            </a:r>
            <a:pPr algn="ctr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Principio de Pareto (80/20).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91733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2800350" cy="7179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Metodología Híbrida de Ciencia de Datos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32322"/>
            <a:ext cx="280035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0F4C81"/>
                </a:solidFill>
              </a:rPr>
              <a:t>El flujo de trabajo integra técnicas de **Aprendizaje Supervisado** y **No Supervisado** para una solución robusta.</a:t>
            </a:r>
            <a:endParaRPr lang="en-US" sz="987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2767310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35806" y="2575322"/>
            <a:ext cx="249316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Fase I: Preprocesamiento y EDA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Limpieza de datos y Descomposición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Estacional.</a:t>
            </a:r>
            <a:endParaRPr lang="en-US" sz="987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3529905"/>
            <a:ext cx="200025" cy="2000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5806" y="3337917"/>
            <a:ext cx="249316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Fase II: Segmentación (No Supervisado)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PCA y K-Means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Clustering.</a:t>
            </a:r>
            <a:endParaRPr lang="en-US" sz="987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4292501"/>
            <a:ext cx="200025" cy="200025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735806" y="4100513"/>
            <a:ext cx="2493169" cy="584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A1A2E"/>
                </a:solidFill>
              </a:rPr>
              <a:t>Fase III: Modelado Predictivo (Supervisado)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Meta-modelo de </a:t>
            </a:r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Ensamble.</a:t>
            </a:r>
            <a:endParaRPr lang="en-US" sz="987" dirty="0"/>
          </a:p>
        </p:txBody>
      </p:sp>
      <p:sp>
        <p:nvSpPr>
          <p:cNvPr id="11" name="Shape 5"/>
          <p:cNvSpPr/>
          <p:nvPr/>
        </p:nvSpPr>
        <p:spPr>
          <a:xfrm>
            <a:off x="3657600" y="0"/>
            <a:ext cx="5486400" cy="529173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2" name="Shape 6"/>
          <p:cNvSpPr/>
          <p:nvPr/>
        </p:nvSpPr>
        <p:spPr>
          <a:xfrm>
            <a:off x="3657600" y="0"/>
            <a:ext cx="14288" cy="5291733"/>
          </a:xfrm>
          <a:prstGeom prst="rect">
            <a:avLst/>
          </a:prstGeom>
          <a:solidFill>
            <a:srgbClr val="0F4C81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38154" y="1288554"/>
            <a:ext cx="3839514" cy="285747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617041"/>
            <a:ext cx="2800350" cy="1030486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Análisis Exploratorio de Datos (EDA) y Estacionalidad</a:t>
            </a:r>
            <a:endParaRPr lang="en-US" sz="1602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625" y="1947565"/>
            <a:ext cx="171450" cy="1714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07231" y="1933277"/>
            <a:ext cx="2521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94560"/>
                </a:solidFill>
              </a:rPr>
              <a:t>Tendencia: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Visualización de la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Demanda Total Agregada (2019-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2025).</a:t>
            </a:r>
            <a:endParaRPr lang="en-US" sz="987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625" y="2811959"/>
            <a:ext cx="150019" cy="17145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685800" y="2797671"/>
            <a:ext cx="25431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94560"/>
                </a:solidFill>
              </a:rPr>
              <a:t>Estacionalidad: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Descomposición de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la serie temporal confirma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94560"/>
                </a:solidFill>
              </a:rPr>
              <a:t>patrones </a:t>
            </a:r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94560"/>
                </a:solidFill>
              </a:rPr>
              <a:t>cíclicos anuales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.</a:t>
            </a:r>
            <a:endParaRPr lang="en-US" sz="987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3676352"/>
            <a:ext cx="171450" cy="17145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707231" y="3662065"/>
            <a:ext cx="252174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987" b="1" dirty="0">
                <a:solidFill>
                  <a:srgbClr val="E94560"/>
                </a:solidFill>
              </a:rPr>
              <a:t>Conclusión: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La estacionalidad es un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factor clave que debe ser capturado </a:t>
            </a:r>
            <a:pPr algn="l"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por los modelos de pronóstico.</a:t>
            </a:r>
            <a:endParaRPr lang="en-US" sz="987" dirty="0"/>
          </a:p>
        </p:txBody>
      </p:sp>
      <p:sp>
        <p:nvSpPr>
          <p:cNvPr id="10" name="Shape 4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1" name="Shape 5"/>
          <p:cNvSpPr/>
          <p:nvPr/>
        </p:nvSpPr>
        <p:spPr>
          <a:xfrm>
            <a:off x="3657600" y="0"/>
            <a:ext cx="14288" cy="5143500"/>
          </a:xfrm>
          <a:prstGeom prst="rect">
            <a:avLst/>
          </a:prstGeom>
          <a:solidFill>
            <a:srgbClr val="0F4C81"/>
          </a:solidFill>
          <a:ln/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50519" y="875109"/>
            <a:ext cx="4500563" cy="339328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8625" y="285750"/>
            <a:ext cx="2486025" cy="45720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900363" y="285750"/>
            <a:ext cx="14288" cy="4572000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285750"/>
            <a:ext cx="2200275" cy="8229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Segmentación de Patrones de Demanda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571500" y="1451577"/>
            <a:ext cx="2200275" cy="11572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El aprendizaje no supervisado se aplicó para entender el comportamiento del mercado y agrupar las 50 combinaciones (Producto x Cliente) con patrones de demanda similares.</a:t>
            </a:r>
            <a:endParaRPr lang="en-US" sz="942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7525" y="317897"/>
            <a:ext cx="171450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28975" y="285750"/>
            <a:ext cx="1398696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94560"/>
                </a:solidFill>
              </a:rPr>
              <a:t>PCA (Análisis de</a:t>
            </a:r>
            <a:endParaRPr lang="en-US" sz="1193" dirty="0"/>
          </a:p>
        </p:txBody>
      </p:sp>
      <p:sp>
        <p:nvSpPr>
          <p:cNvPr id="9" name="Text 5"/>
          <p:cNvSpPr/>
          <p:nvPr/>
        </p:nvSpPr>
        <p:spPr>
          <a:xfrm>
            <a:off x="3057525" y="519708"/>
            <a:ext cx="2230413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94560"/>
                </a:solidFill>
              </a:rPr>
              <a:t>Componentes Principales)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3057525" y="1039416"/>
            <a:ext cx="2614613" cy="3857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4C81"/>
                </a:solidFill>
              </a:rPr>
              <a:t>Objetivo: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 Reducción de dimensionalidad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para facilitar la visualización y el clustering.</a:t>
            </a:r>
            <a:endParaRPr lang="en-US" sz="885" dirty="0"/>
          </a:p>
        </p:txBody>
      </p:sp>
      <p:sp>
        <p:nvSpPr>
          <p:cNvPr id="11" name="Text 7"/>
          <p:cNvSpPr/>
          <p:nvPr/>
        </p:nvSpPr>
        <p:spPr>
          <a:xfrm>
            <a:off x="3057525" y="1639491"/>
            <a:ext cx="26146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94560"/>
                </a:solidFill>
              </a:rPr>
              <a:t>43.8%</a:t>
            </a:r>
            <a:endParaRPr lang="en-US" sz="2436" dirty="0"/>
          </a:p>
        </p:txBody>
      </p:sp>
      <p:sp>
        <p:nvSpPr>
          <p:cNvPr id="12" name="Text 8"/>
          <p:cNvSpPr/>
          <p:nvPr/>
        </p:nvSpPr>
        <p:spPr>
          <a:xfrm>
            <a:off x="3057525" y="2177058"/>
            <a:ext cx="2614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6213E"/>
                </a:solidFill>
              </a:rPr>
              <a:t>Varianza Total Explicada por PC1 y PC2</a:t>
            </a:r>
            <a:endParaRPr lang="en-US" sz="834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76011" y="2589609"/>
            <a:ext cx="2391928" cy="1785910"/>
          </a:xfrm>
          <a:prstGeom prst="rect">
            <a:avLst/>
          </a:prstGeom>
        </p:spPr>
      </p:pic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7888" y="317897"/>
            <a:ext cx="171450" cy="17145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29338" y="285750"/>
            <a:ext cx="1709031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94560"/>
                </a:solidFill>
              </a:rPr>
              <a:t>K-Means Clustering</a:t>
            </a:r>
            <a:endParaRPr lang="en-US" sz="1193" dirty="0"/>
          </a:p>
        </p:txBody>
      </p:sp>
      <p:sp>
        <p:nvSpPr>
          <p:cNvPr id="16" name="Text 10"/>
          <p:cNvSpPr/>
          <p:nvPr/>
        </p:nvSpPr>
        <p:spPr>
          <a:xfrm>
            <a:off x="5957888" y="805458"/>
            <a:ext cx="2614613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885" b="1" dirty="0">
                <a:solidFill>
                  <a:srgbClr val="0F4C81"/>
                </a:solidFill>
              </a:rPr>
              <a:t>Objetivo: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 Agrupamiento de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productos/clientes con comportamientos </a:t>
            </a:r>
            <a:pPr algn="l" indent="0" marL="0">
              <a:lnSpc>
                <a:spcPts val="15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de demanda similares.</a:t>
            </a:r>
            <a:endParaRPr lang="en-US" sz="885" dirty="0"/>
          </a:p>
        </p:txBody>
      </p:sp>
      <p:sp>
        <p:nvSpPr>
          <p:cNvPr id="17" name="Text 11"/>
          <p:cNvSpPr/>
          <p:nvPr/>
        </p:nvSpPr>
        <p:spPr>
          <a:xfrm>
            <a:off x="5957888" y="1598414"/>
            <a:ext cx="2614613" cy="46613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E94560"/>
                </a:solidFill>
              </a:rPr>
              <a:t>K = 4</a:t>
            </a:r>
            <a:endParaRPr lang="en-US" sz="2436" dirty="0"/>
          </a:p>
        </p:txBody>
      </p:sp>
      <p:sp>
        <p:nvSpPr>
          <p:cNvPr id="18" name="Text 12"/>
          <p:cNvSpPr/>
          <p:nvPr/>
        </p:nvSpPr>
        <p:spPr>
          <a:xfrm>
            <a:off x="5957888" y="2135981"/>
            <a:ext cx="2614613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16213E"/>
                </a:solidFill>
              </a:rPr>
              <a:t>Número Óptimo de Clústeres (Método del Codo)</a:t>
            </a:r>
            <a:endParaRPr lang="en-US" sz="834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031" y="2601274"/>
            <a:ext cx="2614613" cy="168042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7626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28625"/>
            <a:ext cx="4629150" cy="7179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Meta-Modelo de Ensamble para la Predicción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360884"/>
            <a:ext cx="4629150" cy="3893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0F4C81"/>
                </a:solidFill>
              </a:rPr>
              <a:t>Estrategia: Combinación de tres modelos para robustecer la predicción a 12 meses.</a:t>
            </a:r>
            <a:endParaRPr lang="en-US" sz="10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25" y="2118122"/>
            <a:ext cx="187523" cy="21431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74858" y="2078831"/>
            <a:ext cx="4068617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Random Forest Regressor</a:t>
            </a:r>
            <a:endParaRPr lang="en-US" sz="1090" dirty="0"/>
          </a:p>
        </p:txBody>
      </p:sp>
      <p:sp>
        <p:nvSpPr>
          <p:cNvPr id="7" name="Text 3"/>
          <p:cNvSpPr/>
          <p:nvPr/>
        </p:nvSpPr>
        <p:spPr>
          <a:xfrm>
            <a:off x="874858" y="2336341"/>
            <a:ext cx="3439604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Captura relaciones no lineales e importancia de variables</a:t>
            </a:r>
            <a:endParaRPr lang="en-US" sz="942" dirty="0"/>
          </a:p>
        </p:txBody>
      </p:sp>
      <p:sp>
        <p:nvSpPr>
          <p:cNvPr id="8" name="Text 4"/>
          <p:cNvSpPr/>
          <p:nvPr/>
        </p:nvSpPr>
        <p:spPr>
          <a:xfrm>
            <a:off x="874858" y="2516358"/>
            <a:ext cx="245256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temporales (`year`, `month`, `dayofyear`).</a:t>
            </a:r>
            <a:endParaRPr lang="en-US" sz="942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43" y="3141073"/>
            <a:ext cx="214313" cy="214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4055" y="3101783"/>
            <a:ext cx="4019420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SARIMA</a:t>
            </a:r>
            <a:endParaRPr lang="en-US" sz="1090" dirty="0"/>
          </a:p>
        </p:txBody>
      </p:sp>
      <p:sp>
        <p:nvSpPr>
          <p:cNvPr id="11" name="Text 6"/>
          <p:cNvSpPr/>
          <p:nvPr/>
        </p:nvSpPr>
        <p:spPr>
          <a:xfrm>
            <a:off x="924055" y="3359293"/>
            <a:ext cx="399586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Modela explícitamente la autocorrelación y la estacionalidad lineal</a:t>
            </a:r>
            <a:endParaRPr lang="en-US" sz="942" dirty="0"/>
          </a:p>
        </p:txBody>
      </p:sp>
      <p:sp>
        <p:nvSpPr>
          <p:cNvPr id="12" name="Text 7"/>
          <p:cNvSpPr/>
          <p:nvPr/>
        </p:nvSpPr>
        <p:spPr>
          <a:xfrm>
            <a:off x="924055" y="3539310"/>
            <a:ext cx="65117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de la serie.</a:t>
            </a:r>
            <a:endParaRPr lang="en-US" sz="942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030" y="4164025"/>
            <a:ext cx="187523" cy="21431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67268" y="4124734"/>
            <a:ext cx="4076207" cy="2200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Prophet</a:t>
            </a:r>
            <a:endParaRPr lang="en-US" sz="1090" dirty="0"/>
          </a:p>
        </p:txBody>
      </p:sp>
      <p:sp>
        <p:nvSpPr>
          <p:cNvPr id="15" name="Text 9"/>
          <p:cNvSpPr/>
          <p:nvPr/>
        </p:nvSpPr>
        <p:spPr>
          <a:xfrm>
            <a:off x="867268" y="4382244"/>
            <a:ext cx="334882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Incorporado por su capacidad para manejar tendencias</a:t>
            </a:r>
            <a:endParaRPr lang="en-US" sz="942" dirty="0"/>
          </a:p>
        </p:txBody>
      </p:sp>
      <p:sp>
        <p:nvSpPr>
          <p:cNvPr id="16" name="Text 10"/>
          <p:cNvSpPr/>
          <p:nvPr/>
        </p:nvSpPr>
        <p:spPr>
          <a:xfrm>
            <a:off x="867268" y="4562261"/>
            <a:ext cx="2793457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cambiantes y días festivos de manera robusta.</a:t>
            </a:r>
            <a:endParaRPr lang="en-US" sz="942" dirty="0"/>
          </a:p>
        </p:txBody>
      </p:sp>
      <p:sp>
        <p:nvSpPr>
          <p:cNvPr id="17" name="Shape 11"/>
          <p:cNvSpPr/>
          <p:nvPr/>
        </p:nvSpPr>
        <p:spPr>
          <a:xfrm>
            <a:off x="5486400" y="0"/>
            <a:ext cx="3657600" cy="3857625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18" name="Shape 12"/>
          <p:cNvSpPr/>
          <p:nvPr/>
        </p:nvSpPr>
        <p:spPr>
          <a:xfrm>
            <a:off x="5486400" y="0"/>
            <a:ext cx="14288" cy="3857625"/>
          </a:xfrm>
          <a:prstGeom prst="rect">
            <a:avLst/>
          </a:prstGeom>
          <a:solidFill>
            <a:srgbClr val="0F4C81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9275" y="511643"/>
            <a:ext cx="3371850" cy="283433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8625" y="483626"/>
            <a:ext cx="3714750" cy="717947"/>
          </a:xfrm>
          <a:prstGeom prst="rect">
            <a:avLst/>
          </a:prstGeom>
          <a:noFill/>
          <a:ln/>
        </p:spPr>
        <p:txBody>
          <a:bodyPr wrap="squar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Resultados de Modelado (Métricas de Error)</a:t>
            </a:r>
            <a:endParaRPr lang="en-US" sz="1602" dirty="0"/>
          </a:p>
        </p:txBody>
      </p:sp>
      <p:sp>
        <p:nvSpPr>
          <p:cNvPr id="4" name="Text 1"/>
          <p:cNvSpPr/>
          <p:nvPr/>
        </p:nvSpPr>
        <p:spPr>
          <a:xfrm>
            <a:off x="428625" y="1487323"/>
            <a:ext cx="3714750" cy="44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Métrica Clave: </a:t>
            </a:r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E94560"/>
                </a:solidFill>
              </a:rPr>
              <a:t>RMSE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 (Root Mean Squared Error) para </a:t>
            </a:r>
            <a:pPr algn="l" indent="0" marL="0">
              <a:lnSpc>
                <a:spcPts val="16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evaluar la precisión de la predicción.</a:t>
            </a:r>
            <a:endParaRPr lang="en-US" sz="1050" dirty="0"/>
          </a:p>
        </p:txBody>
      </p:sp>
      <p:sp>
        <p:nvSpPr>
          <p:cNvPr id="5" name="Shape 2"/>
          <p:cNvSpPr/>
          <p:nvPr/>
        </p:nvSpPr>
        <p:spPr>
          <a:xfrm>
            <a:off x="432197" y="2073808"/>
            <a:ext cx="1816354" cy="296466"/>
          </a:xfrm>
          <a:prstGeom prst="rect">
            <a:avLst/>
          </a:prstGeom>
          <a:solidFill>
            <a:srgbClr val="0F4C81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32197" y="2073808"/>
            <a:ext cx="1816354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Modelo</a:t>
            </a:r>
            <a:endParaRPr lang="en-US" sz="885" dirty="0"/>
          </a:p>
        </p:txBody>
      </p:sp>
      <p:sp>
        <p:nvSpPr>
          <p:cNvPr id="7" name="Shape 4"/>
          <p:cNvSpPr/>
          <p:nvPr/>
        </p:nvSpPr>
        <p:spPr>
          <a:xfrm>
            <a:off x="2248551" y="2073808"/>
            <a:ext cx="1891252" cy="296466"/>
          </a:xfrm>
          <a:prstGeom prst="rect">
            <a:avLst/>
          </a:prstGeom>
          <a:solidFill>
            <a:srgbClr val="0F4C81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248551" y="2073808"/>
            <a:ext cx="1891252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FFFFFF"/>
                </a:solidFill>
              </a:rPr>
              <a:t>RMSE (Ejemplo de Serie)</a:t>
            </a:r>
            <a:endParaRPr lang="en-US" sz="885" dirty="0"/>
          </a:p>
        </p:txBody>
      </p:sp>
      <p:sp>
        <p:nvSpPr>
          <p:cNvPr id="9" name="Shape 6"/>
          <p:cNvSpPr/>
          <p:nvPr/>
        </p:nvSpPr>
        <p:spPr>
          <a:xfrm>
            <a:off x="432197" y="2366702"/>
            <a:ext cx="1816354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32197" y="2366702"/>
            <a:ext cx="1816354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Prophet</a:t>
            </a:r>
            <a:endParaRPr lang="en-US" sz="942" dirty="0"/>
          </a:p>
        </p:txBody>
      </p:sp>
      <p:sp>
        <p:nvSpPr>
          <p:cNvPr id="11" name="Shape 8"/>
          <p:cNvSpPr/>
          <p:nvPr/>
        </p:nvSpPr>
        <p:spPr>
          <a:xfrm>
            <a:off x="2248551" y="2366702"/>
            <a:ext cx="1891252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248551" y="2366702"/>
            <a:ext cx="1891252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~ 1,234,567</a:t>
            </a:r>
            <a:endParaRPr lang="en-US" sz="942" dirty="0"/>
          </a:p>
        </p:txBody>
      </p:sp>
      <p:sp>
        <p:nvSpPr>
          <p:cNvPr id="13" name="Shape 10"/>
          <p:cNvSpPr/>
          <p:nvPr/>
        </p:nvSpPr>
        <p:spPr>
          <a:xfrm>
            <a:off x="432197" y="2659596"/>
            <a:ext cx="1816354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32197" y="2659596"/>
            <a:ext cx="1816354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Random Forest</a:t>
            </a:r>
            <a:endParaRPr lang="en-US" sz="942" dirty="0"/>
          </a:p>
        </p:txBody>
      </p:sp>
      <p:sp>
        <p:nvSpPr>
          <p:cNvPr id="15" name="Shape 12"/>
          <p:cNvSpPr/>
          <p:nvPr/>
        </p:nvSpPr>
        <p:spPr>
          <a:xfrm>
            <a:off x="2248551" y="2659596"/>
            <a:ext cx="1891252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2248551" y="2659596"/>
            <a:ext cx="1891252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~ 1,500,000</a:t>
            </a:r>
            <a:endParaRPr lang="en-US" sz="942" dirty="0"/>
          </a:p>
        </p:txBody>
      </p:sp>
      <p:sp>
        <p:nvSpPr>
          <p:cNvPr id="17" name="Shape 14"/>
          <p:cNvSpPr/>
          <p:nvPr/>
        </p:nvSpPr>
        <p:spPr>
          <a:xfrm>
            <a:off x="432197" y="2952490"/>
            <a:ext cx="1816354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32197" y="2952490"/>
            <a:ext cx="1816354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SARIMA</a:t>
            </a:r>
            <a:endParaRPr lang="en-US" sz="942" dirty="0"/>
          </a:p>
        </p:txBody>
      </p:sp>
      <p:sp>
        <p:nvSpPr>
          <p:cNvPr id="19" name="Shape 16"/>
          <p:cNvSpPr/>
          <p:nvPr/>
        </p:nvSpPr>
        <p:spPr>
          <a:xfrm>
            <a:off x="2248551" y="2952490"/>
            <a:ext cx="1891252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2248551" y="2952490"/>
            <a:ext cx="1891252" cy="296466"/>
          </a:xfrm>
          <a:prstGeom prst="rect">
            <a:avLst/>
          </a:prstGeom>
          <a:noFill/>
          <a:ln/>
        </p:spPr>
        <p:txBody>
          <a:bodyPr wrap="square" lIns="68072" tIns="68072" rIns="68072" bIns="68072" rtlCol="0" anchor="ctr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942" dirty="0">
                <a:solidFill>
                  <a:srgbClr val="16213E"/>
                </a:solidFill>
              </a:rPr>
              <a:t>~ 1,800,000</a:t>
            </a:r>
            <a:endParaRPr lang="en-US" sz="942" dirty="0"/>
          </a:p>
        </p:txBody>
      </p:sp>
      <p:sp>
        <p:nvSpPr>
          <p:cNvPr id="21" name="Shape 18"/>
          <p:cNvSpPr/>
          <p:nvPr/>
        </p:nvSpPr>
        <p:spPr>
          <a:xfrm>
            <a:off x="432197" y="3245383"/>
            <a:ext cx="1816354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5775" y="3306105"/>
            <a:ext cx="1694408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94560"/>
                </a:solidFill>
              </a:rPr>
              <a:t>Meta-Modelo de Ensamble</a:t>
            </a:r>
            <a:endParaRPr lang="en-US" sz="885" dirty="0"/>
          </a:p>
        </p:txBody>
      </p:sp>
      <p:sp>
        <p:nvSpPr>
          <p:cNvPr id="23" name="Shape 20"/>
          <p:cNvSpPr/>
          <p:nvPr/>
        </p:nvSpPr>
        <p:spPr>
          <a:xfrm>
            <a:off x="2244896" y="3245383"/>
            <a:ext cx="1894908" cy="296466"/>
          </a:xfrm>
          <a:prstGeom prst="rect">
            <a:avLst/>
          </a:prstGeom>
          <a:solidFill>
            <a:srgbClr val="F8F8F8"/>
          </a:solidFill>
          <a:ln w="9144">
            <a:solidFill>
              <a:srgbClr val="16213E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2305478" y="3306105"/>
            <a:ext cx="1769250" cy="17502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E94560"/>
                </a:solidFill>
              </a:rPr>
              <a:t>(Generalmente el más bajo)</a:t>
            </a:r>
            <a:endParaRPr lang="en-US" sz="885" dirty="0"/>
          </a:p>
        </p:txBody>
      </p:sp>
      <p:sp>
        <p:nvSpPr>
          <p:cNvPr id="25" name="Text 22"/>
          <p:cNvSpPr/>
          <p:nvPr/>
        </p:nvSpPr>
        <p:spPr>
          <a:xfrm>
            <a:off x="428625" y="3838315"/>
            <a:ext cx="3714750" cy="857250"/>
          </a:xfrm>
          <a:prstGeom prst="rect">
            <a:avLst/>
          </a:prstGeom>
          <a:noFill/>
          <a:ln/>
        </p:spPr>
        <p:txBody>
          <a:bodyPr wrap="square" lIns="127508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A1A2E"/>
                </a:solidFill>
              </a:rPr>
              <a:t>El Meta-Modelo de Ensamble generalmente supera a los modelos individuales, proporcionando una predicción más estable y precisa.</a:t>
            </a:r>
            <a:endParaRPr lang="en-US" sz="1090" dirty="0"/>
          </a:p>
        </p:txBody>
      </p:sp>
      <p:sp>
        <p:nvSpPr>
          <p:cNvPr id="26" name="Shape 2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4572000" y="0"/>
            <a:ext cx="14288" cy="514350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6269" y="785813"/>
            <a:ext cx="3943462" cy="35718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2294455" y="465237"/>
            <a:ext cx="4555089" cy="4054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2294455" y="849213"/>
            <a:ext cx="4555089" cy="21431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5" name="Text 2"/>
          <p:cNvSpPr/>
          <p:nvPr/>
        </p:nvSpPr>
        <p:spPr>
          <a:xfrm>
            <a:off x="2294455" y="465237"/>
            <a:ext cx="4555089" cy="40540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Desafíos y Consideraciones del Proyecto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1257300" y="1217116"/>
            <a:ext cx="6629400" cy="950119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Shape 4"/>
          <p:cNvSpPr/>
          <p:nvPr/>
        </p:nvSpPr>
        <p:spPr>
          <a:xfrm>
            <a:off x="1257300" y="1217116"/>
            <a:ext cx="35719" cy="950119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9637"/>
            <a:ext cx="257175" cy="2571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807369" y="1331416"/>
            <a:ext cx="5965031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Desafío 1: Manejo de Dimensionalidad</a:t>
            </a:r>
            <a:endParaRPr lang="en-US" sz="1193" dirty="0"/>
          </a:p>
        </p:txBody>
      </p:sp>
      <p:sp>
        <p:nvSpPr>
          <p:cNvPr id="10" name="Text 6"/>
          <p:cNvSpPr/>
          <p:nvPr/>
        </p:nvSpPr>
        <p:spPr>
          <a:xfrm>
            <a:off x="1807369" y="1633240"/>
            <a:ext cx="5636000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Necesidad de transformar el dataset de "formato ancho" a "formato largo" (Melting)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1807369" y="1847552"/>
            <a:ext cx="2570466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para el modelado de series de tiempo.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257300" y="2367260"/>
            <a:ext cx="6629400" cy="950119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3" name="Shape 9"/>
          <p:cNvSpPr/>
          <p:nvPr/>
        </p:nvSpPr>
        <p:spPr>
          <a:xfrm>
            <a:off x="1257300" y="2367260"/>
            <a:ext cx="35719" cy="950119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529780"/>
            <a:ext cx="289322" cy="2571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35944" y="2481560"/>
            <a:ext cx="5936456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Desafío 2: Varianza No Explicada</a:t>
            </a:r>
            <a:endParaRPr lang="en-US" sz="1193" dirty="0"/>
          </a:p>
        </p:txBody>
      </p:sp>
      <p:sp>
        <p:nvSpPr>
          <p:cNvPr id="16" name="Text 11"/>
          <p:cNvSpPr/>
          <p:nvPr/>
        </p:nvSpPr>
        <p:spPr>
          <a:xfrm>
            <a:off x="1835944" y="2783384"/>
            <a:ext cx="562913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La varianza no explicada por PCA (56.2%) sugiere que otros factores (no temporales)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1835944" y="2997696"/>
            <a:ext cx="2881359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influyen significativamente en la demanda.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1257300" y="3517404"/>
            <a:ext cx="6629400" cy="950119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9" name="Shape 14"/>
          <p:cNvSpPr/>
          <p:nvPr/>
        </p:nvSpPr>
        <p:spPr>
          <a:xfrm>
            <a:off x="1257300" y="3517404"/>
            <a:ext cx="35719" cy="950119"/>
          </a:xfrm>
          <a:prstGeom prst="rect">
            <a:avLst/>
          </a:prstGeom>
          <a:solidFill>
            <a:srgbClr val="0F4C81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679924"/>
            <a:ext cx="192881" cy="25717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743075" y="3631704"/>
            <a:ext cx="6029325" cy="2571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Consideración Clave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1743075" y="3933527"/>
            <a:ext cx="5948595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La precisión del pronóstico depende de la estabilidad de los patrones de demanda de los</a:t>
            </a:r>
            <a:endParaRPr lang="en-US" sz="1050" dirty="0"/>
          </a:p>
        </p:txBody>
      </p:sp>
      <p:sp>
        <p:nvSpPr>
          <p:cNvPr id="23" name="Text 17"/>
          <p:cNvSpPr/>
          <p:nvPr/>
        </p:nvSpPr>
        <p:spPr>
          <a:xfrm>
            <a:off x="1743075" y="4147840"/>
            <a:ext cx="3255708" cy="19466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700"/>
              </a:lnSpc>
              <a:buNone/>
            </a:pPr>
            <a:r>
              <a:rPr lang="en-US" sz="1050" dirty="0">
                <a:solidFill>
                  <a:srgbClr val="16213E"/>
                </a:solidFill>
              </a:rPr>
              <a:t>Top 10 Productos y Top 5 Clientes seleccionados.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280152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83722" y="428625"/>
            <a:ext cx="2176528" cy="405408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3483722" y="812602"/>
            <a:ext cx="2176528" cy="21431"/>
          </a:xfrm>
          <a:prstGeom prst="rect">
            <a:avLst/>
          </a:prstGeom>
          <a:solidFill>
            <a:srgbClr val="0F4C81"/>
          </a:solidFill>
          <a:ln/>
        </p:spPr>
      </p:sp>
      <p:sp>
        <p:nvSpPr>
          <p:cNvPr id="5" name="Text 2"/>
          <p:cNvSpPr/>
          <p:nvPr/>
        </p:nvSpPr>
        <p:spPr>
          <a:xfrm>
            <a:off x="3483722" y="428625"/>
            <a:ext cx="2176528" cy="405408"/>
          </a:xfrm>
          <a:prstGeom prst="rect">
            <a:avLst/>
          </a:prstGeom>
          <a:noFill/>
          <a:ln/>
        </p:spPr>
        <p:txBody>
          <a:bodyPr wrap="none" lIns="0" tIns="0" rIns="0" bIns="8509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1A1A2E"/>
                </a:solidFill>
              </a:rPr>
              <a:t>Conclusiones Clave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1257300" y="1241227"/>
            <a:ext cx="6629400" cy="100579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7" name="Shape 4"/>
          <p:cNvSpPr/>
          <p:nvPr/>
        </p:nvSpPr>
        <p:spPr>
          <a:xfrm>
            <a:off x="1257300" y="1241227"/>
            <a:ext cx="35719" cy="100579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0175" y="1575336"/>
            <a:ext cx="428625" cy="3429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043113" y="1384102"/>
            <a:ext cx="5700713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Dominio Metodológico: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 Se aplicó con éxito un flujo de trabajo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94560"/>
                </a:solidFill>
              </a:rPr>
              <a:t>híbrido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 (EDA, PCA, K-Means, Ensamble) para abordar el pronóstico de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demanda.</a:t>
            </a:r>
            <a:endParaRPr lang="en-US" sz="1193" dirty="0"/>
          </a:p>
        </p:txBody>
      </p:sp>
      <p:sp>
        <p:nvSpPr>
          <p:cNvPr id="10" name="Shape 6"/>
          <p:cNvSpPr/>
          <p:nvPr/>
        </p:nvSpPr>
        <p:spPr>
          <a:xfrm>
            <a:off x="1257300" y="2532766"/>
            <a:ext cx="6629400" cy="100579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1" name="Shape 7"/>
          <p:cNvSpPr/>
          <p:nvPr/>
        </p:nvSpPr>
        <p:spPr>
          <a:xfrm>
            <a:off x="1257300" y="2532766"/>
            <a:ext cx="35719" cy="100579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0175" y="2866876"/>
            <a:ext cx="342900" cy="3429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957388" y="2675641"/>
            <a:ext cx="578643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Valor de la Segmentación: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 El clustering (K=4) permite establecer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94560"/>
                </a:solidFill>
              </a:rPr>
              <a:t>estrategias comerciales diferenciadas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 para cada grupo de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productos/clientes.</a:t>
            </a:r>
            <a:endParaRPr lang="en-US" sz="1193" dirty="0"/>
          </a:p>
        </p:txBody>
      </p:sp>
      <p:sp>
        <p:nvSpPr>
          <p:cNvPr id="14" name="Shape 9"/>
          <p:cNvSpPr/>
          <p:nvPr/>
        </p:nvSpPr>
        <p:spPr>
          <a:xfrm>
            <a:off x="1257300" y="3824306"/>
            <a:ext cx="6629400" cy="1005790"/>
          </a:xfrm>
          <a:prstGeom prst="rect">
            <a:avLst/>
          </a:prstGeom>
          <a:solidFill>
            <a:srgbClr val="F8F8F8"/>
          </a:solidFill>
          <a:ln/>
        </p:spPr>
      </p:sp>
      <p:sp>
        <p:nvSpPr>
          <p:cNvPr id="15" name="Shape 10"/>
          <p:cNvSpPr/>
          <p:nvPr/>
        </p:nvSpPr>
        <p:spPr>
          <a:xfrm>
            <a:off x="1257300" y="3824306"/>
            <a:ext cx="35719" cy="1005790"/>
          </a:xfrm>
          <a:prstGeom prst="rect">
            <a:avLst/>
          </a:prstGeom>
          <a:solidFill>
            <a:srgbClr val="E9456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00175" y="4158416"/>
            <a:ext cx="342900" cy="3429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957388" y="3967181"/>
            <a:ext cx="5786438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900"/>
              </a:lnSpc>
              <a:buNone/>
            </a:pPr>
            <a:r>
              <a:rPr lang="en-US" sz="1193" b="1" dirty="0">
                <a:solidFill>
                  <a:srgbClr val="1A1A2E"/>
                </a:solidFill>
              </a:rPr>
              <a:t>Robustez del Pronóstico: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 El Meta-Modelo de Ensamble demostró ser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la mejor estrategia para capturar la 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E94560"/>
                </a:solidFill>
              </a:rPr>
              <a:t>complejidad de la serie temporal</a:t>
            </a:r>
            <a:pPr algn="l" indent="0" marL="0">
              <a:lnSpc>
                <a:spcPts val="1900"/>
              </a:lnSpc>
              <a:buNone/>
            </a:pPr>
            <a:r>
              <a:rPr lang="en-US" sz="1269" dirty="0">
                <a:solidFill>
                  <a:srgbClr val="16213E"/>
                </a:solidFill>
              </a:rPr>
              <a:t> (tendencia, estacionalidad, no linealidades).</a:t>
            </a:r>
            <a:endParaRPr lang="en-US" sz="1193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88536" y="1579383"/>
            <a:ext cx="5966929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E94560"/>
                </a:solidFill>
              </a:rPr>
              <a:t>PREGUNTAS Y RESPUESTAS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1588536" y="2272019"/>
            <a:ext cx="5966929" cy="31253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0F4C81"/>
                </a:solidFill>
              </a:rPr>
              <a:t>Gracias por su atención.</a:t>
            </a:r>
            <a:endParaRPr lang="en-US" sz="1704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20190" y="3056046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163077" y="3023899"/>
            <a:ext cx="5060705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Proyecto Integrador: Machine Learning e Inferencia Bayesiana</a:t>
            </a:r>
            <a:endParaRPr lang="en-US" sz="1269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5533" y="3484671"/>
            <a:ext cx="150019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696989" y="3452524"/>
            <a:ext cx="3971479" cy="23395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69" dirty="0">
                <a:solidFill>
                  <a:srgbClr val="FFFFFF"/>
                </a:solidFill>
              </a:rPr>
              <a:t>Presentador: Roberto Alejandro Chagra Martinez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2025-11-27T08:48:17Z</dcterms:created>
  <dcterms:modified xsi:type="dcterms:W3CDTF">2025-11-27T08:48:17Z</dcterms:modified>
</cp:coreProperties>
</file>